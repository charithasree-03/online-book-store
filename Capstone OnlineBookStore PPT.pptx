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60" r:id="rId2"/>
    <p:sldId id="4421" r:id="rId3"/>
    <p:sldId id="4422" r:id="rId4"/>
    <p:sldId id="4423" r:id="rId5"/>
    <p:sldId id="4424" r:id="rId6"/>
    <p:sldId id="4425" r:id="rId7"/>
    <p:sldId id="4426" r:id="rId8"/>
    <p:sldId id="4427" r:id="rId9"/>
    <p:sldId id="4428" r:id="rId10"/>
    <p:sldId id="4429" r:id="rId11"/>
    <p:sldId id="4430" r:id="rId12"/>
    <p:sldId id="4434" r:id="rId13"/>
    <p:sldId id="4431" r:id="rId14"/>
    <p:sldId id="4432" r:id="rId15"/>
    <p:sldId id="4433" r:id="rId16"/>
    <p:sldId id="4436" r:id="rId17"/>
    <p:sldId id="4437" r:id="rId18"/>
    <p:sldId id="4446" r:id="rId19"/>
    <p:sldId id="4438" r:id="rId20"/>
    <p:sldId id="4439" r:id="rId21"/>
    <p:sldId id="4447" r:id="rId22"/>
    <p:sldId id="4441" r:id="rId23"/>
    <p:sldId id="4442" r:id="rId24"/>
    <p:sldId id="444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87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255" autoAdjust="0"/>
    <p:restoredTop sz="94660"/>
  </p:normalViewPr>
  <p:slideViewPr>
    <p:cSldViewPr snapToGrid="0">
      <p:cViewPr varScale="1">
        <p:scale>
          <a:sx n="59" d="100"/>
          <a:sy n="59" d="100"/>
        </p:scale>
        <p:origin x="12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83ABB-A641-41B3-815B-0BF71611796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464667-E269-4945-B7C0-AD99F8954A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1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2225B-E41B-77C0-1A23-7FE91583A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A84B7F-BF54-53DE-5ED7-2CDED8A4B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18E42-7938-EBF6-0BBB-C03E98259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4C66D-7C77-1BC2-E297-5581F607B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71FE2-01D7-8CFA-F772-2A12DADA9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976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69414-E7DE-B18D-3123-DBD0283D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AEC70-B92A-CC7C-576E-A961A566D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0CFBF-3986-2ECA-DC6E-B0EB5EEAE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622A7-D018-3314-6712-AC0A3E326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F858B-9E65-33C3-1330-DDC559B7F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4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99EF2-BE12-339C-53A6-D7F37ED5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EA9B6-8FA8-149E-9646-FB301CFB1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25791-C68A-6622-2CC5-3C0B28333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CB1C5-90B9-0823-9015-AF5F09CF9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9B8B6-BAA6-240F-60BE-518B08A68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101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E3121-A2A6-067F-9BB5-431330CD0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61458-6F42-1FC6-02A5-B26BB0448D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A9E45-D816-7EFD-3CAA-178E16FA00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4DE17-8AF8-1452-3C2B-1E8AC11C0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04EE6-8A95-F57F-A192-3DE3AA413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7B0C8-4507-0579-A941-6A255E92B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88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D41E2-A077-4FE6-C0D3-E53AD7692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D9F13-A5D4-37A3-1493-299424981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EE514-EB19-276A-D5A5-AD3B452852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4ECFBA-4BCE-DB10-1A82-A2D64F058E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FB50E7-10C2-3309-2CDC-0F66334ED7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1554FF-26AD-988B-1BE6-17295ED2C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EB7DB9-3BFA-EEC0-380B-FF6C9131A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18BED0-2F21-3460-79B8-7290A76A4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78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70D88-D9A6-E2BA-4D07-31B2E1E8C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9C88D8-4119-A0E3-1E19-520074B60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BD6728-10D0-DD4F-070F-D8887DC40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1F0AF4-0EB8-E3C6-BC9D-0F225B0D6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91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305AF-CB28-6234-0989-07022337F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5B88D4-A6C0-E1B7-8994-A86076DAC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BBE91-403E-73E0-6DB4-5910441B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80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1ACB-DC8B-620D-E3BF-7FA852E0A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1B764-533F-1B5D-0611-138F69934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B5571B-161E-E09A-5698-4A40CFD31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211E9-C5AE-278A-0394-D5A3F4277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7A9B3E-94F2-61BE-DDC5-42C051384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52E40-E8E1-BD3E-81E3-532D7B29B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00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F0294-46E3-230A-33FB-B650A56B8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C59121-E297-856F-8ED2-F9B862BEEC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44B73E-5B9E-91E2-5353-C491A0CF95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24E462-7BB8-F752-941C-B91D00225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8DAB4-C59B-C493-7D76-5E1C91DA5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DC2E0-CCB3-2997-598A-4720CC284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03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79BFA-EF8F-EA09-32AE-D64B8AE7D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6459FB-C2B4-23D4-5E49-19DBA37F4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53C33-E5A3-B4F5-E8BF-0885DE881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B3BEFD-E011-F7CA-9B31-F27B73919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99C5A-F8B7-9E90-F8CD-0F9D22014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137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C63739-7054-0E76-0B25-A01771D40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38EBE8-732F-CBA6-F8BB-30CF1BAE2D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9432A-8B6F-76F0-0D7B-30A66B962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8D616-BCA7-5689-02D1-3CA3EA884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83D8B-7730-9BA0-75AA-DC12AF5D0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253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BEEC88-9CA5-4612-35B7-82E0244A7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ADCC53-C329-CE13-38A1-EB94C1E16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1CA58-D0E5-D20E-2F11-B1014BAA02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54645D-A023-304B-CF92-E94304A16A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39631-FBA3-5F80-C564-B320E69D3D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09B860-F767-CF44-CE1F-64E3F076B1F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78488" y="6672580"/>
            <a:ext cx="855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General - RPS Data</a:t>
            </a:r>
          </a:p>
        </p:txBody>
      </p:sp>
    </p:spTree>
    <p:extLst>
      <p:ext uri="{BB962C8B-B14F-4D97-AF65-F5344CB8AC3E}">
        <p14:creationId xmlns:p14="http://schemas.microsoft.com/office/powerpoint/2010/main" val="3411653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87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2"/>
          <a:srcRect l="1" r="-387" b="18588"/>
          <a:stretch/>
        </p:blipFill>
        <p:spPr>
          <a:xfrm>
            <a:off x="366227" y="237669"/>
            <a:ext cx="1212311" cy="788699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66227" y="1503753"/>
            <a:ext cx="11555519" cy="998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425"/>
              </a:lnSpc>
              <a:spcBef>
                <a:spcPct val="0"/>
              </a:spcBef>
            </a:pPr>
            <a:r>
              <a:rPr lang="en-US" sz="2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WIPRO NGA Program – 25SUB4530_CP_JAVA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66227" y="3275236"/>
            <a:ext cx="6780319" cy="5749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Capstone Project Presentation – 9</a:t>
            </a:r>
            <a:r>
              <a:rPr lang="en-US" sz="2400" baseline="30000" dirty="0">
                <a:solidFill>
                  <a:srgbClr val="FFFFFF"/>
                </a:solidFill>
                <a:latin typeface="HK Grotesk" pitchFamily="2" charset="77"/>
              </a:rPr>
              <a:t>th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Feb &amp; 10</a:t>
            </a:r>
            <a:r>
              <a:rPr lang="en-US" sz="2400" baseline="30000" dirty="0">
                <a:solidFill>
                  <a:srgbClr val="FFFFFF"/>
                </a:solidFill>
                <a:latin typeface="HK Grotesk" pitchFamily="2" charset="77"/>
              </a:rPr>
              <a:t>th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Feb   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6226" y="6140450"/>
            <a:ext cx="4172935" cy="221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67"/>
              </a:lnSpc>
              <a:spcBef>
                <a:spcPct val="0"/>
              </a:spcBef>
            </a:pPr>
            <a:r>
              <a:rPr lang="en-US" sz="1333" spc="133" dirty="0">
                <a:solidFill>
                  <a:srgbClr val="FFFFFF"/>
                </a:solidFill>
                <a:latin typeface="HK Grotesk Light Bold"/>
              </a:rPr>
              <a:t>www.rpsconsulting.in</a:t>
            </a: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ED66556B-B256-8D8D-E60E-0C5895B5FFA5}"/>
              </a:ext>
            </a:extLst>
          </p:cNvPr>
          <p:cNvSpPr txBox="1"/>
          <p:nvPr/>
        </p:nvSpPr>
        <p:spPr>
          <a:xfrm>
            <a:off x="366226" y="5061410"/>
            <a:ext cx="6780319" cy="5749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Presented by – Enuguru Charitha Sree ,</a:t>
            </a:r>
            <a:r>
              <a:rPr lang="en-US" sz="2400" dirty="0" err="1">
                <a:solidFill>
                  <a:srgbClr val="FFFFFF"/>
                </a:solidFill>
                <a:latin typeface="HK Grotesk" pitchFamily="2" charset="77"/>
              </a:rPr>
              <a:t>G.Mohan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Sri Sai (TEAM-6)</a:t>
            </a:r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21F87AA7-2FEF-9248-CC8B-6951622F8F14}"/>
              </a:ext>
            </a:extLst>
          </p:cNvPr>
          <p:cNvSpPr txBox="1"/>
          <p:nvPr/>
        </p:nvSpPr>
        <p:spPr>
          <a:xfrm>
            <a:off x="366227" y="4136906"/>
            <a:ext cx="6780319" cy="2928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Project Title Here – Online Book Store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7AE17-255B-EFAF-AB19-35D5726D4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E3526C0-0D62-E999-846D-539DB0F96A06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CE32E4E7-27A9-CE4B-8AB0-AA5E86AA8E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3222EB71-F821-F852-BAE8-F9C461EA6C9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4C8-542D-6BAC-F31C-291E314EA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834CDC-2435-88E7-E908-66FF8BBA8773}"/>
              </a:ext>
            </a:extLst>
          </p:cNvPr>
          <p:cNvSpPr txBox="1"/>
          <p:nvPr/>
        </p:nvSpPr>
        <p:spPr>
          <a:xfrm>
            <a:off x="431513" y="1167761"/>
            <a:ext cx="11080725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Introduction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The Online Book Store is a web-based catalog management application developed to manage book information in an efficient, secure, and structured manner</a:t>
            </a:r>
            <a:r>
              <a:rPr lang="en-US" sz="2400" dirty="0"/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2200" dirty="0">
              <a:latin typeface="HK Grotesk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The Online Book Store is a web-based catalog management application developed to manage book information in an efficient, secure, and structured manner.</a:t>
            </a:r>
          </a:p>
          <a:p>
            <a:pPr algn="just"/>
            <a:endParaRPr lang="en-US" sz="2200" dirty="0">
              <a:latin typeface="HK Grotesk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The system is built using Angular for the frontend, Spring Boot for the backend, and a relational database such as MySQL or PostgreSQL for data storage. It follows a RESTful API-based architecture and is containerized using Docker for scalable deployment on Microsoft Azure.</a:t>
            </a:r>
            <a:endParaRPr lang="en-US" sz="2200" dirty="0"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051022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D3032-B556-A91A-981E-8250A33CE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862E1825-6333-41D5-E771-CF08492BD77E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8D7400C0-485A-874F-6D5D-115D01E82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F34A314C-6C61-4D84-1B85-2D54121D8D92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7CB2D-20DA-B466-107D-17102AE1F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3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B992C1-F4CE-9AC8-B9C3-CA40A6B2E3A6}"/>
              </a:ext>
            </a:extLst>
          </p:cNvPr>
          <p:cNvSpPr txBox="1"/>
          <p:nvPr/>
        </p:nvSpPr>
        <p:spPr>
          <a:xfrm>
            <a:off x="431513" y="1474619"/>
            <a:ext cx="11080725" cy="3908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olidFill>
                  <a:srgbClr val="0187CC"/>
                </a:solidFill>
                <a:latin typeface="HK Grotesk"/>
              </a:rPr>
              <a:t>Problem Statement </a:t>
            </a:r>
            <a:r>
              <a:rPr lang="en-US" sz="2200" dirty="0">
                <a:solidFill>
                  <a:srgbClr val="0187CC"/>
                </a:solidFill>
                <a:latin typeface="HK Grotesk"/>
              </a:rPr>
              <a:t>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/>
              <a:t>In many book  stores, book catalog and inventory details are still managed using spreadsheets or manual registers, which leads to:</a:t>
            </a: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Data redundancy and inconsistency in book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Difficulty in searching books by title or author.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Higher chances of human errors in stock and price updates.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Lack of centralized access control and data security.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Time-consuming processes for updating and maintaining book records.</a:t>
            </a: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/>
              <a:t>There is a need for a robust, secure, and scalable online book  store system that enables efficient management of book catalog, and user interactions with minimal manual effort.</a:t>
            </a:r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214248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EB73-466C-0D03-3CC4-644E6AC1F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DCF2EE09-856A-C061-DE90-4CA50D407FAC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A82B561-06E1-43F3-D7E6-06784041A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55E6433-F75B-30FC-924C-40851BFBD08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32FA7-E604-83BC-6BA4-AA2E14FF1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4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56EEE1-E46D-B711-3451-D61CCEA2433F}"/>
              </a:ext>
            </a:extLst>
          </p:cNvPr>
          <p:cNvSpPr txBox="1"/>
          <p:nvPr/>
        </p:nvSpPr>
        <p:spPr>
          <a:xfrm>
            <a:off x="431513" y="1358125"/>
            <a:ext cx="11080725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Objectives: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/>
              <a:t>The key objectives of the Online Book Store system are:</a:t>
            </a: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To maintain book records in a centralized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To reduce manual errors in managing book details, pricing, and stock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To provide quick search and update functionality for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To ensure data accuracy and proper validation of book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To implement a scalable and maintainable system architecture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To provide a user-friendly and responsive web interface</a:t>
            </a:r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23584345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BAA7F-E173-669B-1B0C-F636A8E01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346FCAD-33FF-4924-74CE-0C74F391DDC9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3C1B8075-AFE0-BCA2-8C45-33660646F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790169E1-533F-8E81-8199-8D7ADDBB08DC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425B0-9D6D-8BAB-21F9-D2B1C7459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5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3B3C11-CBFB-623A-828B-B87BD2B672C2}"/>
              </a:ext>
            </a:extLst>
          </p:cNvPr>
          <p:cNvSpPr txBox="1"/>
          <p:nvPr/>
        </p:nvSpPr>
        <p:spPr>
          <a:xfrm>
            <a:off x="273074" y="1354574"/>
            <a:ext cx="11080725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Core Functionalities: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algn="just"/>
            <a:r>
              <a:rPr lang="en-US" sz="2200" dirty="0"/>
              <a:t>The system provides the following core functionalities: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Add new book records to the catalog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View book details such as title, author, price, and stock in an organized format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Update existing book information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Delete book records from the catalog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Search books by title or author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Perform input validation on both frontend and backend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Handle errors using global exception handling mechanisms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All operations are performed using RESTful APIs, ensuring loose coupling between the frontend and backend.</a:t>
            </a:r>
          </a:p>
        </p:txBody>
      </p:sp>
    </p:spTree>
    <p:extLst>
      <p:ext uri="{BB962C8B-B14F-4D97-AF65-F5344CB8AC3E}">
        <p14:creationId xmlns:p14="http://schemas.microsoft.com/office/powerpoint/2010/main" val="1285667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CD5A3-6818-183B-2089-8F4057B79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86C85CE4-B3F5-9AE1-7705-F1610DE645F7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76EC1D6E-C60D-2D2C-7489-A69FFA330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FDFC1CD-B055-B171-9A0E-C8CFDBEC0F4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056FD-2A83-4DFC-3474-0E0703AA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3301B7-1D76-79F2-6395-99A9D3BDE511}"/>
              </a:ext>
            </a:extLst>
          </p:cNvPr>
          <p:cNvSpPr txBox="1"/>
          <p:nvPr/>
        </p:nvSpPr>
        <p:spPr>
          <a:xfrm>
            <a:off x="555637" y="1339255"/>
            <a:ext cx="11080725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Key Features: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User-friendly and responsive interface developed using Angular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Reactive forms with proper validation for book and user inputs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RESTful APIs to support CRUD operations on book catalog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Global exception handling implemented in the backend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Search and filter functionality for books by title or author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Secure database interaction using Spring Data JPA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Scalable and containerized deployment using Docker and 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4136234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1409B-E357-D8E7-041A-93EA5E76D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94EBEF1C-BC52-3A23-1FC0-3A96C9458CAC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D1020D05-0C19-8225-3590-4CE5E32D0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2AB15DF5-9C21-2121-A6AC-3C66A205D46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FE191-6A71-466C-E4CA-411704FA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7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BEB9DB-0A13-2385-7C75-187943915796}"/>
              </a:ext>
            </a:extLst>
          </p:cNvPr>
          <p:cNvSpPr txBox="1"/>
          <p:nvPr/>
        </p:nvSpPr>
        <p:spPr>
          <a:xfrm>
            <a:off x="273075" y="971116"/>
            <a:ext cx="110807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RESTful API-Based Architecture:</a:t>
            </a:r>
          </a:p>
          <a:p>
            <a:pPr algn="just"/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The project follows a RESTful API architecture, where:</a:t>
            </a:r>
          </a:p>
          <a:p>
            <a:pPr algn="just"/>
            <a:endParaRPr lang="en-US" sz="2200" dirty="0">
              <a:latin typeface="HK Grotesk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Each operation is mapped to an HTTP method: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POST → Add Book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GET → View  Book(s)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PUT → Update Book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DELETE → Delete Book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APIs return JSON responses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Stateless communication is maintained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Clear separation between frontend and backend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This architecture improves scalability, maintainability, and reusability of the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492378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776DE-CB1D-471D-7636-A08116EF5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93747DE-CC26-2DC4-057D-78171454B9C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DACCAF1A-446D-56BD-D5BA-50A5B5DC4B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A1D7C51-C6BA-A8FB-40A6-99483D811B9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D762D-29A7-9B88-E096-3A314365B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8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69AB0-01B7-BCB2-BE1C-6077C34B14D3}"/>
              </a:ext>
            </a:extLst>
          </p:cNvPr>
          <p:cNvSpPr txBox="1"/>
          <p:nvPr/>
        </p:nvSpPr>
        <p:spPr>
          <a:xfrm>
            <a:off x="273075" y="971116"/>
            <a:ext cx="1108072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Technology Stack:</a:t>
            </a:r>
          </a:p>
          <a:p>
            <a:pPr algn="just"/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algn="just"/>
            <a:r>
              <a:rPr lang="en-US" sz="2200" dirty="0">
                <a:latin typeface="HK Grotesk"/>
              </a:rPr>
              <a:t>1.</a:t>
            </a:r>
            <a:r>
              <a:rPr lang="en-US" sz="2200" u="sng" dirty="0">
                <a:latin typeface="HK Grotesk"/>
              </a:rPr>
              <a:t>Frontend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Angular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TypeScript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HTML, CSS, Bootstrap</a:t>
            </a:r>
          </a:p>
          <a:p>
            <a:pPr algn="just"/>
            <a:endParaRPr lang="en-US" sz="2200" dirty="0">
              <a:latin typeface="HK Grotesk"/>
            </a:endParaRPr>
          </a:p>
          <a:p>
            <a:pPr algn="just"/>
            <a:r>
              <a:rPr lang="en-US" sz="2200" dirty="0">
                <a:latin typeface="HK Grotesk"/>
              </a:rPr>
              <a:t>2.</a:t>
            </a:r>
            <a:r>
              <a:rPr lang="en-US" sz="2200" u="sng" dirty="0">
                <a:latin typeface="HK Grotesk"/>
              </a:rPr>
              <a:t>Backend  </a:t>
            </a:r>
            <a:r>
              <a:rPr lang="en-US" sz="2200" dirty="0">
                <a:latin typeface="HK Grotesk"/>
              </a:rPr>
              <a:t>                                                                               4. </a:t>
            </a:r>
            <a:r>
              <a:rPr lang="en-US" sz="2200" u="sng" dirty="0">
                <a:latin typeface="HK Grotesk"/>
              </a:rPr>
              <a:t>DevOps &amp; Deployment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Spring Boot                                                                          - Docker (Containerization)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Spring Data JPA                                                                   - Microsoft Azure App Service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REST APIs</a:t>
            </a:r>
          </a:p>
          <a:p>
            <a:pPr algn="just"/>
            <a:endParaRPr lang="en-US" sz="2200" dirty="0">
              <a:latin typeface="HK Grotesk"/>
            </a:endParaRPr>
          </a:p>
          <a:p>
            <a:pPr algn="just"/>
            <a:r>
              <a:rPr lang="en-US" sz="2200" dirty="0">
                <a:latin typeface="HK Grotesk"/>
              </a:rPr>
              <a:t>3.</a:t>
            </a:r>
            <a:r>
              <a:rPr lang="en-US" sz="2200" u="sng" dirty="0">
                <a:latin typeface="HK Grotesk"/>
              </a:rPr>
              <a:t>Database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H2 / PostgreSQL</a:t>
            </a:r>
          </a:p>
        </p:txBody>
      </p:sp>
    </p:spTree>
    <p:extLst>
      <p:ext uri="{BB962C8B-B14F-4D97-AF65-F5344CB8AC3E}">
        <p14:creationId xmlns:p14="http://schemas.microsoft.com/office/powerpoint/2010/main" val="1001191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59DC2-CEB1-4C9E-E6BD-E2EB04BDB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D792C2B5-0E1E-395F-4878-1FFD5B3F8BA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E28A7DE0-EE2B-EE6C-AB9B-E7957A1AD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AC7DAD6-6BD0-3C2F-DE03-F23A448BAE9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84713-09BB-6412-BA30-85445FC37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9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A4F68-A995-6CA7-7245-10CA9773B873}"/>
              </a:ext>
            </a:extLst>
          </p:cNvPr>
          <p:cNvSpPr txBox="1"/>
          <p:nvPr/>
        </p:nvSpPr>
        <p:spPr>
          <a:xfrm>
            <a:off x="273075" y="971116"/>
            <a:ext cx="11080725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User Interface: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Dashboard with navigation menu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Add Book form with proper validations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Book List view in an organized layout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View Book details page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Update Book form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Search books by title or author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The user interface updates in real time when book records are added, updated, or deleted, providing a smooth and responsive user experience.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089777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64F4D-0666-C176-77D8-7F9EA410D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7AFA3F4A-4940-8883-C3DE-E962C760714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F535D18E-0571-6D6F-AD92-6DA0140123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BD49C45-B6C3-570B-505A-D514AD678A1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62D2D-C9FE-2F56-10BE-22D5A19D1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5AC121-0906-10C3-B7B9-9E98193802F5}"/>
              </a:ext>
            </a:extLst>
          </p:cNvPr>
          <p:cNvSpPr txBox="1"/>
          <p:nvPr/>
        </p:nvSpPr>
        <p:spPr>
          <a:xfrm>
            <a:off x="273075" y="873245"/>
            <a:ext cx="11080725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Application Workflow: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User opens the application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User logs in as USER or ADMIN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User navigates to the Add Book or Book Management page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User enters book details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Form validation occurs on the frontend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Data is sent to the backend through REST APIs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Backend validates and processes the request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Data is stored in the database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Book list is refreshed automatically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User can view, update, or delete book records based on role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/>
              <a:t>This ensures efficient and real-time management of the online book s tore system</a:t>
            </a:r>
            <a:r>
              <a:rPr lang="en-US" sz="2400" dirty="0"/>
              <a:t>.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2919986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07200-BC01-1039-9FB5-FFB92C6BD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7E5A152F-FB38-EC39-419D-4D654D47EF80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59CB2A5F-E417-87FB-D5E6-E220EEB74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2BF1671-0C5B-718A-AF4A-6E1B855BC469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552455-28C4-852F-E7C1-75813EB52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1CC3A1-1F98-6AE5-CC88-A4171EBDC2C6}"/>
              </a:ext>
            </a:extLst>
          </p:cNvPr>
          <p:cNvSpPr txBox="1"/>
          <p:nvPr/>
        </p:nvSpPr>
        <p:spPr>
          <a:xfrm>
            <a:off x="273075" y="971116"/>
            <a:ext cx="110807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DevOps &amp; Deployment:</a:t>
            </a:r>
          </a:p>
          <a:p>
            <a:pPr algn="just"/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algn="just"/>
            <a:r>
              <a:rPr lang="en-US" sz="2200" dirty="0">
                <a:latin typeface="HK Grotesk"/>
              </a:rPr>
              <a:t>Docker: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Containerizes frontend and backend applications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Ensures consistent environment across development and production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Simplifies deployment process</a:t>
            </a:r>
          </a:p>
          <a:p>
            <a:pPr algn="just"/>
            <a:endParaRPr lang="en-US" sz="2200" dirty="0">
              <a:latin typeface="HK Grotesk"/>
            </a:endParaRPr>
          </a:p>
          <a:p>
            <a:pPr algn="just"/>
            <a:r>
              <a:rPr lang="en-US" sz="2200" dirty="0">
                <a:latin typeface="HK Grotesk"/>
              </a:rPr>
              <a:t>Azure: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Hosts backend Spring Boot APIs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Hosts Angular frontend application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Supports scalability and cloud deployment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HK Grotesk"/>
              </a:rPr>
              <a:t>Enables easy application management.</a:t>
            </a:r>
            <a:endParaRPr lang="en-US" sz="2800" dirty="0"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1497844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DD326-8AFA-4384-1ACB-72FF5B02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0CE1C5F0-F5A6-5F5E-AC98-006B580BA4D9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7B3B721F-3472-7EEE-4D38-0799BE9F16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BE1FAC8-6868-1832-4B30-932746B8101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30655-2849-72CA-19D4-59FE0D536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12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FFF9F4-3495-D8EF-06EF-7EB6E4D0158C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Register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D78B72-D524-6940-958A-677AE5282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662" y="1527289"/>
            <a:ext cx="9447549" cy="4829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58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E59EA-CCB2-D10E-E3C4-5EE6218B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4B0D9338-E563-D734-BA68-10F7DE741392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34364A16-3039-8C5C-BBAC-FB980655C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C866D4EC-E46B-1D60-D149-78181F987FA0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43DA5-EBD8-2106-7F2E-6A439190F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13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52309-D18E-8E9F-6617-6D6071E9FCAE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Login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502A39-1A85-4788-441C-8AC41F426E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75" y="1528222"/>
            <a:ext cx="11564964" cy="435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807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EE4B4-F532-7F8E-7789-7F1546BF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5A117026-AAA9-1E0B-7056-D18757643215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578DA475-427A-C761-09D6-A640F5D1E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A1D76AA-8A88-8BF4-4C5B-BF6261860E0C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83DCF-87C7-3D9B-E051-3EF7AE46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14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74F16F-600B-DADF-B1A8-B29E3161E98B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Adding Book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072E02-D094-55F1-4D37-AA9B69372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82" y="1525103"/>
            <a:ext cx="10274710" cy="476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6135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D32BA-5E2E-3134-5204-334F9EDF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C394D6EA-9B37-1A44-08DE-3E6E3B35A628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0FA951A9-9704-8305-6918-DDE4A762E7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E46AD82-A14A-B0F5-B12B-5DCA1F54F0FA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B03594-00EF-A49B-3AB7-F9B16D50F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15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EFA11-6653-32F2-B5D2-E21BF32AF6AA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Book List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70AA15-15B3-86DC-5106-543B2FA41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96" y="1528965"/>
            <a:ext cx="10510684" cy="4868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052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E72F-BF5B-EA35-CDBC-6A593ACB7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E84C70AC-8DAA-5E0E-01B0-CAF0880B023D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2C0B048D-AACC-9A86-A0CB-88E0320E9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B78F23A-BDCD-4927-BA07-A09CC45F7C2E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D43AC-5304-8111-E5AB-C79DA5ACA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762297-33D2-AFC0-CC19-E38BF14C9637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Add to cart 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634F01-A470-9644-4189-3D791E40F2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6" y="1445342"/>
            <a:ext cx="11425084" cy="4886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52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DDBA2-BA5B-4EF9-84D8-F3C838EC3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5D7C86B-736F-9385-393D-DE6D541195B8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8BAA935-74B3-FAA2-25C2-04E1EC7845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82904E0-2A94-8BD3-38CA-4D3D525E96E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6CCB6-73B7-5C9A-D4C3-6F405E194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17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AC4856-18FC-67A8-C581-4D8FA5326B03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User’s Data in DB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8001C7-A3FB-C93E-29C8-60E949C2B7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80" y="1592239"/>
            <a:ext cx="11779045" cy="479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5412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CA211-4E8A-5373-EA2C-CF948A068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0ABC6A06-D829-7BCA-1C66-CD6639217BE6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4F526700-B779-BFB5-8B6C-B720DD2C9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237D486-E232-88E2-EA6D-417A137E1BF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99B9B-726E-7503-29CB-1DBF61FC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18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77C6-4836-92CA-5D98-64B7F3076537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User’s Data in DB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FCA317-4EA0-2B09-2AFE-D49725C00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80" y="1592239"/>
            <a:ext cx="11779045" cy="479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230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AF436-880C-EBE4-B39D-279B1D8CF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EA71C559-BAE3-A468-519E-0E416014B9C5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5A6F550E-FA42-D8AA-7214-7D9525CE1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15B39310-C8F0-DEBC-636E-DF9502886922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6CF406-818D-C093-770E-CFF4F1E38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19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C4F659-A06B-5DE4-8914-04C31873E094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Container running in Docker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53A49F-6A64-1308-B07E-461D4758A3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4771" y="1621971"/>
            <a:ext cx="9612086" cy="498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379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E2483-3815-3604-18BE-5664A5900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45586F2F-D5FC-F506-D2C3-9AFE186521E1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8E1D9CE5-91FB-E418-FFC2-5522F5904E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9E5E17B-99A8-30BD-2BF5-2AD802C8199D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198E4D-5C57-A6EF-0A14-D1B90BE4C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20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215533-A281-6791-9398-7C99C676A8E1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Images created in Docker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DBD83E-BD39-67C0-67C6-4C72F0774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96" y="1691148"/>
            <a:ext cx="10257733" cy="456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9301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0431C-A690-334F-AB8D-53552434C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4F2A2E86-2821-C0E6-05DB-0E9E0D970C2A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14843C6A-CB0E-5EE8-A155-AFEFAA04C9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A31ED8CE-E0CA-D7C3-1171-0323F995E4EE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21302-4FDB-4557-084A-C58CC3129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21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1899B2-2754-F3EE-7CCB-F61621A58153}"/>
              </a:ext>
            </a:extLst>
          </p:cNvPr>
          <p:cNvSpPr txBox="1"/>
          <p:nvPr/>
        </p:nvSpPr>
        <p:spPr>
          <a:xfrm>
            <a:off x="273075" y="911773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 In Azure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3869A2-6C58-0018-749B-5E75785DC3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4373"/>
            <a:ext cx="10183754" cy="471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9734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AFE7D-C768-CDDE-19CD-3ADB03E6C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76081F14-C7BC-9A52-2A85-ED4943AE69FC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24372B1C-1665-040F-E632-B15027241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0C81609B-9C47-89AD-7825-CFC5A628292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08F1C-D97B-AE64-2058-479919EBF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22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4C4354-1B1E-2625-163A-F8750E2EBE57}"/>
              </a:ext>
            </a:extLst>
          </p:cNvPr>
          <p:cNvSpPr txBox="1"/>
          <p:nvPr/>
        </p:nvSpPr>
        <p:spPr>
          <a:xfrm>
            <a:off x="273075" y="971116"/>
            <a:ext cx="110807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4D67C6-D996-9005-3EEB-AB9D179B5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357" y="976478"/>
            <a:ext cx="10684160" cy="5348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498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EFF38-0C91-EF33-6937-02D2FA12E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54F707A9-77DC-DE9B-B937-22351ED74C22}"/>
              </a:ext>
            </a:extLst>
          </p:cNvPr>
          <p:cNvSpPr/>
          <p:nvPr/>
        </p:nvSpPr>
        <p:spPr>
          <a:xfrm>
            <a:off x="273075" y="211475"/>
            <a:ext cx="10102565" cy="984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>
                <a:solidFill>
                  <a:srgbClr val="0187CC"/>
                </a:solidFill>
                <a:latin typeface="HK Grotesk Bold"/>
              </a:rPr>
              <a:t>Online Book Store</a:t>
            </a:r>
          </a:p>
          <a:p>
            <a:pPr>
              <a:spcBef>
                <a:spcPct val="0"/>
              </a:spcBef>
            </a:pPr>
            <a:endParaRPr lang="en-US" sz="3200" b="1" dirty="0">
              <a:solidFill>
                <a:srgbClr val="0187CC"/>
              </a:solidFill>
              <a:latin typeface="HK Grotesk Bold"/>
            </a:endParaRP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A6320F3-F499-461D-EEE8-1DA4ADB31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FA03FBA-0B9F-A68D-6383-E06C83ED439A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2FA71-F80E-308E-615E-47E037E70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23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C0499-82D6-C62D-D428-01CE67BAC070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Project pushed into GitHub</a:t>
            </a:r>
            <a:endParaRPr lang="en-US" dirty="0">
              <a:solidFill>
                <a:srgbClr val="0187CC"/>
              </a:solidFill>
              <a:latin typeface="HK Grotesk"/>
            </a:endParaRP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FC71FA-969F-C2A3-B7C1-C7304329F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441" y="1518209"/>
            <a:ext cx="11094359" cy="4817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965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15022-694F-BFE2-13A0-0FCF482F4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B0FB813-F2EC-E75B-A22C-36F8EB098567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9D8BC4B7-1901-1333-68DC-537DD6CE3F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6308F7AB-DCDF-A51D-E9BE-9FC906BD2901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D545A-F57B-E26C-9D5A-50469152F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24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84E45A-9345-7969-C5B3-41CA16693DE0}"/>
              </a:ext>
            </a:extLst>
          </p:cNvPr>
          <p:cNvSpPr txBox="1"/>
          <p:nvPr/>
        </p:nvSpPr>
        <p:spPr>
          <a:xfrm>
            <a:off x="273075" y="971116"/>
            <a:ext cx="1108072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Conclusion: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Employee Management System provides an efficient way to manage employee records digitally.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It supports CRUD operations with secure and validated data handling.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Angular delivers a responsive and interactive user interface.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Spring Boot with RESTful APIs handles backend business logic efficiently.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database ensures reliable data storage and quick retrieval.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Deployment on Docker and Microsoft Azure enables scalability, reliability, and cloud readiness.</a:t>
            </a:r>
          </a:p>
        </p:txBody>
      </p:sp>
    </p:spTree>
    <p:extLst>
      <p:ext uri="{BB962C8B-B14F-4D97-AF65-F5344CB8AC3E}">
        <p14:creationId xmlns:p14="http://schemas.microsoft.com/office/powerpoint/2010/main" val="4294525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3806</TotalTime>
  <Words>1136</Words>
  <Application>Microsoft Office PowerPoint</Application>
  <PresentationFormat>Widescreen</PresentationFormat>
  <Paragraphs>206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HK Grotesk</vt:lpstr>
      <vt:lpstr>HK Grotesk Bold</vt:lpstr>
      <vt:lpstr>HK Grotesk Light</vt:lpstr>
      <vt:lpstr>HK Grotesk Light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Satish M</dc:creator>
  <cp:lastModifiedBy>Enuguru charitha sree</cp:lastModifiedBy>
  <cp:revision>26</cp:revision>
  <dcterms:created xsi:type="dcterms:W3CDTF">2024-05-04T13:11:57Z</dcterms:created>
  <dcterms:modified xsi:type="dcterms:W3CDTF">2026-02-09T15:56:47Z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0f486e-1d0b-4fd6-a73f-04d94048a140_Enabled">
    <vt:lpwstr>true</vt:lpwstr>
  </property>
  <property fmtid="{D5CDD505-2E9C-101B-9397-08002B2CF9AE}" pid="3" name="MSIP_Label_e80f486e-1d0b-4fd6-a73f-04d94048a140_SetDate">
    <vt:lpwstr>2026-02-04T04:06:58Z</vt:lpwstr>
  </property>
  <property fmtid="{D5CDD505-2E9C-101B-9397-08002B2CF9AE}" pid="4" name="MSIP_Label_e80f486e-1d0b-4fd6-a73f-04d94048a140_Method">
    <vt:lpwstr>Standard</vt:lpwstr>
  </property>
  <property fmtid="{D5CDD505-2E9C-101B-9397-08002B2CF9AE}" pid="5" name="MSIP_Label_e80f486e-1d0b-4fd6-a73f-04d94048a140_Name">
    <vt:lpwstr>General - RPS Data</vt:lpwstr>
  </property>
  <property fmtid="{D5CDD505-2E9C-101B-9397-08002B2CF9AE}" pid="6" name="MSIP_Label_e80f486e-1d0b-4fd6-a73f-04d94048a140_SiteId">
    <vt:lpwstr>6565c732-1653-4ffe-b9d3-80a4f1c0c25d</vt:lpwstr>
  </property>
  <property fmtid="{D5CDD505-2E9C-101B-9397-08002B2CF9AE}" pid="7" name="MSIP_Label_e80f486e-1d0b-4fd6-a73f-04d94048a140_ActionId">
    <vt:lpwstr>0c3cc09a-e54e-4ae4-a9fa-efa3f9d629ce</vt:lpwstr>
  </property>
  <property fmtid="{D5CDD505-2E9C-101B-9397-08002B2CF9AE}" pid="8" name="MSIP_Label_e80f486e-1d0b-4fd6-a73f-04d94048a140_ContentBits">
    <vt:lpwstr>2</vt:lpwstr>
  </property>
  <property fmtid="{D5CDD505-2E9C-101B-9397-08002B2CF9AE}" pid="9" name="MSIP_Label_e80f486e-1d0b-4fd6-a73f-04d94048a140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General - RPS Data</vt:lpwstr>
  </property>
</Properties>
</file>